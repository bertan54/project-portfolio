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61" r:id="rId3"/>
    <p:sldId id="257" r:id="rId4"/>
    <p:sldId id="259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E5499-0CF5-6304-00D5-485DBFBD93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B8141-62CD-3E94-EA7E-4FFC546900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64C0B-3D98-4A64-A2D1-4520996E0B7C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D5194D-A7E8-40AE-4E09-4B1FA8AD9A5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2AE5FA-524C-65DB-E48B-C7BE255359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76073-E7A1-4422-B56B-F3620AA0F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90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A2CFCE-4504-41A9-A058-84021C62F2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CCAD7-9D1E-4FD0-98E7-BDB7264C9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648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41B8-3E44-E0B3-A311-D52BA3084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4E25AB-9D7E-32D0-AA3E-A007C57C4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34560-57A4-DB3E-A372-8A200C46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60E5-416F-445A-B9B0-DFDB45463760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8EDAF-189F-8C91-235C-7DB893F6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74A2F-782C-8567-CDAE-1EC74338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12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35CA1-E8CD-6F73-50E8-747D0B1D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FFDB6-465F-7115-CDEB-28A36304C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33F95-4679-8D54-4E7F-3E43F06F7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DC75-4524-4AE1-8EF1-EDA9445F2C34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B330C-3EE0-7BCE-00CF-9EC49A50A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C9134-23EA-D4DE-98F4-8BCCF86A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51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7701D-7E4D-1656-BAD8-D69090E06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45845-F78C-0BF5-05DD-F230A86C6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B6EF2-CDA8-ACF3-8103-8123E91E1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C7D64-F313-43A9-86CC-66EFCBF2B41A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8A705-EDFA-31F3-7F8C-18D4B1D72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E1B0-1A32-34D6-444A-8D677C77C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4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84E2-967B-01F3-6A01-2A3350CC7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A0E38-8108-EB4D-222D-C1D213F6D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3C92D-DF37-72BC-6ECA-DB2A83069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4987E-89BA-30F0-C82A-4A2F44D6F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655EA-87DA-45AF-8570-430EAE48FD21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23829-58BF-49E8-8DC7-6AA1CC3FE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4A9A6-ECEB-7FCD-2D3E-4A04BC4D5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7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CA632-3399-398D-4D4F-43FDF30B9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F95AE-397F-8BE3-A100-58F3E95AD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9E0B0-A566-ACAC-29F0-13D6D443F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671630-00EA-579A-8258-03CDA3C8D5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62DE5A-8F2F-1ED2-2C6C-83FFF937D8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D64285-CE2D-B62E-E142-6A54F225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21CAE-C683-4C32-986F-912518C5B1CD}" type="datetime1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7EA5DB-7B9F-45C6-0479-88C2266CB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BD4E19-0FF4-47EB-A085-5DAC2E5DE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03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CA25-99AE-A3DC-0ED2-42BC6959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CC5913-1C1E-591A-6D50-A3D32A1D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41F8E-FE4C-48DC-8F3A-738F205EE05B}" type="datetime1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29338-6CA0-341E-7200-EE860C41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8B2035-46D4-4983-0A74-112DDCCC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80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706451-80EF-AC90-B673-E8D12900F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E3BFA-A915-4391-96AA-413DA8CA66A5}" type="datetime1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4E24E-E88F-1F65-E095-3D8893F36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7FD49-6061-7CD0-BFE5-1A6F9C32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23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3EE95-9CC0-3651-4F7E-15A0C2C1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2A549-E7DF-A0ED-F7C6-02DAF8979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119D3-9BC8-A05E-E308-5B23008B0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6CB31-E392-F51B-909A-09ECA5190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01A3-CD3B-4924-B4E0-187A4244A280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7779C-902B-83D2-15AC-1A11576BD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03140-81C5-6279-56AD-7B3597A6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07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FBEE-C08A-72E9-EF5F-C8E405C1C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77403C-8866-1A71-5410-F3CF143BA9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DC668-1AB8-2796-E916-97C6D3A63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32B42-FF79-2A07-8C04-175470E1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30F72-BAC3-4BAC-9724-315B2FBC447B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5F728-4D6E-55AB-4911-A9F04B08E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41528-DBAD-A754-CD6D-30B74919F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40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104BC-0FB0-4DC4-CAA8-6EAB051AF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B866E-3F2F-3671-D9C5-E1F0AFFBD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EB5BC-3DFD-B735-B2BB-DD4FC9981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8684-8799-48F5-83F1-B77125654C3D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CB55E-123C-5410-2C61-A881DAA8A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5229-73CF-D6BF-028B-4E8C92C1A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6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09A675-59BD-FFD6-F1B8-0022E3311D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9B61A-C500-90AB-6EBB-D9552F08D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6CDA7-E3AA-A93F-751F-0A76DCC49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5CD4-6EDF-46BA-BC31-284674DA82AF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91668-3398-2369-EE65-90E719FE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446DA-177E-B711-D259-E3688A3F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8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D2A5C-3765-AF79-5943-B6BEA6379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15FF5-584C-FBE4-96B4-DD9DEFF43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07981-9CCD-5B32-2B16-F5F2A5971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457958-DB4E-4C80-899F-06CC53F5AEC4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3A8B4-871E-293D-A1EF-2C48F308A9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F0E14-6B52-6FA3-302D-00CF563D4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14FDD-6494-4FB9-8AB6-4BDB0F5B3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8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AFFE40-456E-F3D2-36C8-2A45674F1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595" y="1677740"/>
            <a:ext cx="5802809" cy="5079776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08E18-995B-494B-CF79-E46B1E46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E16AE-1E2C-8B61-6B51-72078DCE718B}"/>
              </a:ext>
            </a:extLst>
          </p:cNvPr>
          <p:cNvSpPr txBox="1"/>
          <p:nvPr/>
        </p:nvSpPr>
        <p:spPr>
          <a:xfrm>
            <a:off x="2035277" y="137652"/>
            <a:ext cx="836725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3200" b="1" dirty="0"/>
              <a:t>Mech 307 Project : </a:t>
            </a:r>
            <a:r>
              <a:rPr lang="en-US" sz="3200" b="1" dirty="0"/>
              <a:t>Moving and Bouncing Balls</a:t>
            </a:r>
            <a:endParaRPr lang="tr-TR" sz="3200" b="1" dirty="0"/>
          </a:p>
          <a:p>
            <a:pPr algn="ctr"/>
            <a:r>
              <a:rPr lang="tr-TR" sz="3200" b="1" dirty="0"/>
              <a:t>Bertan Erman 83155</a:t>
            </a:r>
            <a:endParaRPr lang="en-US" sz="3200" b="1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40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0CFB4A-C1E7-0182-1118-A58AA53EB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2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9E41B6-DF1D-11A4-C80B-B30273E99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729" y="1502297"/>
            <a:ext cx="9948733" cy="3180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/>
              <a:t>Project Objectives</a:t>
            </a:r>
            <a:endParaRPr kumimoji="0" lang="tr-TR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elastic collision dynamics of multiple particles within a 2D planar domain.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Newton’s Laws of Motion and Conservation of Linear Momentum principles using MATLAB.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translate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theoretical kinetics equations (based on R.C. Hibbeler, Ch. 15) into a computational numerical algorithm.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validate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physical accuracy of the system through real-time energy conservation graphs.</a:t>
            </a:r>
          </a:p>
        </p:txBody>
      </p:sp>
    </p:spTree>
    <p:extLst>
      <p:ext uri="{BB962C8B-B14F-4D97-AF65-F5344CB8AC3E}">
        <p14:creationId xmlns:p14="http://schemas.microsoft.com/office/powerpoint/2010/main" val="564169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C79EA6-5D39-F694-8E5F-5497431D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A409DD30-336E-C4C6-C0C4-D8CE0CE64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7550" y="3499029"/>
            <a:ext cx="4682517" cy="2161749"/>
          </a:xfrm>
          <a:prstGeom prst="rect">
            <a:avLst/>
          </a:prstGeom>
        </p:spPr>
      </p:pic>
      <p:pic>
        <p:nvPicPr>
          <p:cNvPr id="6" name="Picture 5" descr="A white board with black text and mathematical equations&#10;&#10;AI-generated content may be incorrect.">
            <a:extLst>
              <a:ext uri="{FF2B5EF4-FFF2-40B4-BE49-F238E27FC236}">
                <a16:creationId xmlns:a16="http://schemas.microsoft.com/office/drawing/2014/main" id="{A63F0802-CB1B-F7A3-99BC-58EA1CA02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315" y="136525"/>
            <a:ext cx="6910521" cy="3292475"/>
          </a:xfrm>
          <a:prstGeom prst="rect">
            <a:avLst/>
          </a:prstGeom>
        </p:spPr>
      </p:pic>
      <p:pic>
        <p:nvPicPr>
          <p:cNvPr id="8" name="Picture 7" descr="A close-up of a white board&#10;&#10;AI-generated content may be incorrect.">
            <a:extLst>
              <a:ext uri="{FF2B5EF4-FFF2-40B4-BE49-F238E27FC236}">
                <a16:creationId xmlns:a16="http://schemas.microsoft.com/office/drawing/2014/main" id="{65AD1639-152B-781A-F648-5E91B25B82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16" y="3320833"/>
            <a:ext cx="4743573" cy="1200618"/>
          </a:xfrm>
          <a:prstGeom prst="rect">
            <a:avLst/>
          </a:prstGeom>
        </p:spPr>
      </p:pic>
      <p:pic>
        <p:nvPicPr>
          <p:cNvPr id="10" name="Picture 9" descr="A white board with black text&#10;&#10;AI-generated content may be incorrect.">
            <a:extLst>
              <a:ext uri="{FF2B5EF4-FFF2-40B4-BE49-F238E27FC236}">
                <a16:creationId xmlns:a16="http://schemas.microsoft.com/office/drawing/2014/main" id="{F816B11D-3C04-1CD9-BF49-D70289C36D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43" y="0"/>
            <a:ext cx="4667363" cy="3156142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AA12B299-1FEE-98FC-9D79-453C166A5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33" y="4638355"/>
            <a:ext cx="7228113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 wrote the momentum equations for both particles A and B. As you can see in Equations 1 and 2, the impulse J changes their velocities in opposite directions.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 applied the definition </a:t>
            </a:r>
            <a:r>
              <a:rPr lang="en-US" altLang="en-US" dirty="0"/>
              <a:t>of the Coefficient of Restitution (e), which relates the relative velocities before and after the impact.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Finally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by substituting the velocity equations into the restitution constraint, I solved for J.</a:t>
            </a:r>
          </a:p>
        </p:txBody>
      </p:sp>
    </p:spTree>
    <p:extLst>
      <p:ext uri="{BB962C8B-B14F-4D97-AF65-F5344CB8AC3E}">
        <p14:creationId xmlns:p14="http://schemas.microsoft.com/office/powerpoint/2010/main" val="2066270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BF6A6-371B-C9FC-45F5-6528E7A9D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0B71E970-A1BC-AFB8-010C-F37D2EB1B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53" y="1050620"/>
            <a:ext cx="5697647" cy="45331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5C0C0F5-10B1-BFF0-2389-DD20DE528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2143" y="247144"/>
                <a:ext cx="5697648" cy="61401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Algorithm Steps: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1. Initialization: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The system generates </a:t>
                </a:r>
                <a:r>
                  <a:rPr kumimoji="0" lang="tr-T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N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particles with random radii, masses, and initial velocities within the domain boundaries.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2. The Loop: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The simulation advances in discrete time steps h.</a:t>
                </a: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Euler Method: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Positions are updated based on current velocities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⋅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3. Constraint Handling: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Boundary Check: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If a particle hits the wall, its velocity component is reflected (multiplied by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).</a:t>
                </a: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Collision Detection: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The algorithm checks pairwise distances between all particles.</a:t>
                </a:r>
              </a:p>
              <a:p>
                <a:pPr marL="914400" marR="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Condition: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en-US" sz="1800" b="0" i="1" u="none" strike="noStrike" cap="none" normalizeH="0" baseline="0" dirty="0" err="1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sz="1800" b="0" i="1" u="none" strike="noStrike" cap="none" normalizeH="0" baseline="0" dirty="0" err="1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en-US" altLang="en-US" sz="1800" b="0" i="1" u="none" strike="noStrike" cap="none" normalizeH="0" baseline="0" dirty="0" err="1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en-US" sz="1800" b="0" i="1" u="none" strike="noStrike" cap="none" normalizeH="0" baseline="0" dirty="0" err="1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sz="1800" b="0" i="1" u="none" strike="noStrike" cap="none" normalizeH="0" baseline="0" dirty="0" err="1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en-US" altLang="en-US" sz="1800" b="0" i="1" u="none" strike="noStrike" cap="none" normalizeH="0" baseline="0" dirty="0" err="1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, an impact is detected.</a:t>
                </a:r>
              </a:p>
              <a:p>
                <a:pPr marL="914400" marR="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Action: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Impulse vector (J) is calculated and applied to update velocities.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4. Analysis: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Total Kinetic Energy is calculated at the end of each step to monitor system stability.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5C0C0F5-10B1-BFF0-2389-DD20DE5287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2143" y="247144"/>
                <a:ext cx="5697648" cy="6140142"/>
              </a:xfrm>
              <a:prstGeom prst="rect">
                <a:avLst/>
              </a:prstGeom>
              <a:blipFill>
                <a:blip r:embed="rId3"/>
                <a:stretch>
                  <a:fillRect l="-856" t="-119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637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BE376-0AE3-2F57-7720-E7A7DAC6F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B666AA0A-8B08-E9B3-4796-0E642CDF0FD1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 bwMode="auto">
              <a:xfrm>
                <a:off x="324465" y="721797"/>
                <a:ext cx="6400801" cy="53512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Interpenetration</a:t>
                </a:r>
                <a:r>
                  <a:rPr kumimoji="0" lang="tr-TR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 Problem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Since the simulation runs </a:t>
                </a:r>
                <a:r>
                  <a:rPr lang="en-US" altLang="en-US" sz="1800" dirty="0">
                    <a:latin typeface="+mn-lt"/>
                  </a:rPr>
                  <a:t>in discrete time steps, fast</a:t>
                </a:r>
                <a:r>
                  <a:rPr lang="tr-TR" altLang="en-US" sz="1800" dirty="0">
                    <a:latin typeface="+mn-lt"/>
                  </a:rPr>
                  <a:t> </a:t>
                </a:r>
                <a:r>
                  <a:rPr lang="en-US" altLang="en-US" sz="1800" dirty="0">
                    <a:latin typeface="+mn-lt"/>
                  </a:rPr>
                  <a:t>moving particles may penetrate each other before a collision 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is detected</a:t>
                </a:r>
                <a:r>
                  <a:rPr kumimoji="0" lang="tr-T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 </a:t>
                </a:r>
                <a:r>
                  <a:rPr kumimoji="0" lang="tr-TR" altLang="en-US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espacially</a:t>
                </a:r>
                <a:r>
                  <a:rPr kumimoji="0" lang="tr-T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 start of </a:t>
                </a:r>
                <a:r>
                  <a:rPr kumimoji="0" lang="tr-TR" altLang="en-US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the</a:t>
                </a:r>
                <a:r>
                  <a:rPr kumimoji="0" lang="tr-T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 </a:t>
                </a:r>
                <a:r>
                  <a:rPr kumimoji="0" lang="tr-TR" altLang="en-US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simulation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Consequences: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Particles get stuck inside each other, causing the collision logic to trigger repeatedly.</a:t>
                </a: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Repeated impulse application creates artificial energy, causing the system to explode.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The Solution: Position Correction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tr-TR" altLang="en-US" sz="1800" dirty="0">
                    <a:latin typeface="+mn-lt"/>
                  </a:rPr>
                  <a:t>I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 implemented a geometric fix separate from the velocity update.</a:t>
                </a: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Calculate the overlap depth: </a:t>
                </a:r>
                <a:br>
                  <a:rPr kumimoji="0" lang="tr-T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rPr>
                      <m:t>Overlap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rPr>
                      <m:t>=</m:t>
                    </m:r>
                    <m:d>
                      <m:d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en-US" sz="1800" b="0" i="1" u="none" strike="noStrike" cap="none" normalizeH="0" baseline="0" dirty="0" err="1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</a:rPr>
                            </m:ctrlPr>
                          </m:sSubPr>
                          <m:e>
                            <m:r>
                              <a:rPr kumimoji="0" lang="en-US" altLang="en-US" sz="1800" b="0" i="1" u="none" strike="noStrike" cap="none" normalizeH="0" baseline="0" dirty="0" err="1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en-US" altLang="en-US" sz="1800" b="0" i="1" u="none" strike="noStrike" cap="none" normalizeH="0" baseline="0" dirty="0" err="1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en-US" sz="1800" b="0" i="1" u="none" strike="noStrike" cap="none" normalizeH="0" baseline="0" dirty="0" err="1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</a:rPr>
                            </m:ctrlPr>
                          </m:sSubPr>
                          <m:e>
                            <m:r>
                              <a:rPr kumimoji="0" lang="en-US" altLang="en-US" sz="1800" b="0" i="1" u="none" strike="noStrike" cap="none" normalizeH="0" baseline="0" dirty="0" err="1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en-US" altLang="en-US" sz="1800" b="0" i="1" u="none" strike="noStrike" cap="none" normalizeH="0" baseline="0" dirty="0" err="1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rPr>
                      <m:t>−</m:t>
                    </m:r>
                    <m:r>
                      <m:rPr>
                        <m:nor/>
                      </m:rPr>
                      <a: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rPr>
                      <m:t>Distance</m:t>
                    </m:r>
                  </m:oMath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 startAt="2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Separate particles along the collision normal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rPr>
                        </m:ctrlPr>
                      </m:acc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rPr>
                          <m:t>𝑛</m:t>
                        </m:r>
                      </m:e>
                    </m:acc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 by half the overlap amount.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Result: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 Particles are made tangent immediately, ensuring stability.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</mc:Choice>
        <mc:Fallback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B666AA0A-8B08-E9B3-4796-0E642CDF0F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 bwMode="auto">
              <a:xfrm>
                <a:off x="324465" y="721797"/>
                <a:ext cx="6400801" cy="5351209"/>
              </a:xfrm>
              <a:prstGeom prst="rect">
                <a:avLst/>
              </a:prstGeom>
              <a:blipFill>
                <a:blip r:embed="rId2"/>
                <a:stretch>
                  <a:fillRect l="-857" t="-9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graph of colored circles and lines&#10;&#10;AI-generated content may be incorrect.">
            <a:extLst>
              <a:ext uri="{FF2B5EF4-FFF2-40B4-BE49-F238E27FC236}">
                <a16:creationId xmlns:a16="http://schemas.microsoft.com/office/drawing/2014/main" id="{1A864683-08EE-90A6-2691-84B66D545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552" y="1401635"/>
            <a:ext cx="5515745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17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E92801-8E98-D0C0-2F84-05135F614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4FDD-6494-4FB9-8AB6-4BDB0F5B389B}" type="slidenum">
              <a:rPr lang="en-US" smtClean="0"/>
              <a:t>6</a:t>
            </a:fld>
            <a:endParaRPr lang="en-US"/>
          </a:p>
        </p:txBody>
      </p:sp>
      <p:pic>
        <p:nvPicPr>
          <p:cNvPr id="4" name="Collision_Simulation">
            <a:hlinkClick r:id="" action="ppaction://media"/>
            <a:extLst>
              <a:ext uri="{FF2B5EF4-FFF2-40B4-BE49-F238E27FC236}">
                <a16:creationId xmlns:a16="http://schemas.microsoft.com/office/drawing/2014/main" id="{ACD9AAF2-58DA-3238-22DA-3FD916F578F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67000" y="136525"/>
            <a:ext cx="7315200" cy="658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13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6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416</Words>
  <Application>Microsoft Office PowerPoint</Application>
  <PresentationFormat>Widescreen</PresentationFormat>
  <Paragraphs>39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Interpenetration Problem Since the simulation runs in discrete time steps, fast moving particles may penetrate each other before a collision is detected espacially start of the simulation. Consequences: Particles get stuck inside each other, causing the collision logic to trigger repeatedly. Repeated impulse application creates artificial energy, causing the system to explode. The Solution: Position Correction I implemented a geometric fix separate from the velocity update. Calculate the overlap depth:  "Overlap"=(r_i+r_j )-"Distance" Separate particles along the collision normal n ⃗ by half the overlap amount. Result: Particles are made tangent immediately, ensuring stability.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BERTAN ERMAN</dc:creator>
  <cp:lastModifiedBy>BERTAN ERMAN</cp:lastModifiedBy>
  <cp:revision>3</cp:revision>
  <dcterms:created xsi:type="dcterms:W3CDTF">2025-12-28T12:18:36Z</dcterms:created>
  <dcterms:modified xsi:type="dcterms:W3CDTF">2025-12-29T15:38:26Z</dcterms:modified>
</cp:coreProperties>
</file>